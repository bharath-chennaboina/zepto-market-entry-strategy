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Arial"/>
              </a:rPr>
              <a:t>Telangana GMV Trajectory (₹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(₹ Cr)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Q3 2024</c:v>
                  </c:pt>
                  <c:pt idx="1">
                    <c:v>Q4 2024</c:v>
                  </c:pt>
                  <c:pt idx="2">
                    <c:v>Q1 2025</c:v>
                  </c:pt>
                  <c:pt idx="3">
                    <c:v>Q2 2025</c:v>
                  </c:pt>
                  <c:pt idx="4">
                    <c:v>Q3 2025</c:v>
                  </c:pt>
                  <c:pt idx="5">
                    <c:v>Q4 2025</c:v>
                  </c:pt>
                  <c:pt idx="6">
                    <c:v>Q1 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</c:v>
                </c:pt>
                <c:pt idx="1">
                  <c:v>45</c:v>
                </c:pt>
                <c:pt idx="2">
                  <c:v>72</c:v>
                </c:pt>
                <c:pt idx="3">
                  <c:v>105</c:v>
                </c:pt>
                <c:pt idx="4">
                  <c:v>142</c:v>
                </c:pt>
                <c:pt idx="5">
                  <c:v>185</c:v>
                </c:pt>
                <c:pt idx="6">
                  <c:v>223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Open with a hook: Telangana's quick-commerce market is underpenetrated outside Hyderabad — Zepto has a first-mover window of roughly 18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agenda. Emphasize this is a data-driven recommendation backed by primary research on Telangana consumer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TAM figure is from Redseer's 2023 South India quick-commerce report. Emphasize the Tier-2 opportunity — competitors have ignored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No one owns Tier-2 Telangana. Zepto can leapfrog Blinkit by moving into Warangal, Karimnagar, and Nizamabad before competitors wake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phased approach: get Hyderabad to profitability first, use the cash to fund Tier-2 expansion. Don't spread too thin.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2 (partnerships) is the differentiator. Local brand tie-ups drive trust in a market where Zepto is less known than in Mumbai/Bengaluru.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ask: ₹42 Cr capital deployment over 18 months — ₹28 Cr for dark stores, ₹14 Cr for marketing &amp; supply chain buildout. NPV positive at 24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Competitive response is the #1 risk. Speed of execution is the mitigation — lease warehouses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deliverable to the project sponsor. Day 90 milestone: Warangal store #1 open is the key proof point for Phase 2 capital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strong. Reiterate the opportunity cost of waiting: every quarter of delay is ~₹15 Cr of GMV ceded to Blinkit.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B30010">
              <a:alpha val="40000"/>
            </a:srgbClr>
          </a:solidFill>
          <a:ln w="12700">
            <a:solidFill>
              <a:srgbClr val="B30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926080"/>
            <a:ext cx="2286000" cy="2286000"/>
          </a:xfrm>
          <a:prstGeom prst="ellipse">
            <a:avLst/>
          </a:prstGeom>
          <a:solidFill>
            <a:srgbClr val="7A0010">
              <a:alpha val="50000"/>
            </a:srgbClr>
          </a:solidFill>
          <a:ln w="12700">
            <a:solidFill>
              <a:srgbClr val="7A00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07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A1A2E"/>
                </a:solidFill>
              </a:rPr>
              <a:t>MARKET ENTRY STRATEGY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Zepto's Expansion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Telangana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CCCC"/>
                </a:solidFill>
              </a:rPr>
              <a:t>Hyderabad Metro &amp; Tier-2 City Playbook  |  2024–2026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AAAA"/>
                </a:solidFill>
              </a:rPr>
              <a:t>Prepared by: Bharath Chennaboina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5156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79576"/>
            <a:ext cx="493776" cy="49377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95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106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Market Opportunity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399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Size, growth &amp; why Telangana now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84248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12264"/>
            <a:ext cx="493776" cy="49377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122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Competitive Landscape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331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Blinkit, Swiggy Instamart, local players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916936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044952"/>
            <a:ext cx="493776" cy="49377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44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Target Segments &amp; Cities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3264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Hyderabad metro + Tier-2 expansion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849624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977640"/>
            <a:ext cx="493776" cy="49377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77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3904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Entry Strategy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41970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Ops model, dark stores, partnerships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105156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1179576"/>
            <a:ext cx="493776" cy="49377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1795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1106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Financial Projections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23560" y="1399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GMV, unit economics, payback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1984248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2112264"/>
            <a:ext cx="493776" cy="49377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1122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2356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Risk &amp; Mitigation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23560" y="2331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Execution risks and contingencies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2916936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29200" y="3044952"/>
            <a:ext cx="493776" cy="49377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044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2356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Recommendations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23560" y="3264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90-day action plan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0" y="2011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ABBCC"/>
                </a:solidFill>
              </a:rPr>
              <a:t>Why Telangana, Why Now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9900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₹4,200 Cr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DDD"/>
                </a:solidFill>
              </a:rPr>
              <a:t>Telangana Q-Commerce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DDDD"/>
                </a:solidFill>
              </a:rPr>
              <a:t>TAM by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0" y="11430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A24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DDD"/>
                </a:solidFill>
              </a:rPr>
              <a:t>YoY growth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DDDD"/>
                </a:solidFill>
              </a:rPr>
              <a:t>online grocery (2023)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9900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Cr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DDD"/>
                </a:solidFill>
              </a:rPr>
              <a:t>Internet users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DDDD"/>
                </a:solidFill>
              </a:rPr>
              <a:t>Hyderabad metro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66560" y="11430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A24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DDD"/>
                </a:solidFill>
              </a:rPr>
              <a:t>Under-35 population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DDDD"/>
                </a:solidFill>
              </a:rPr>
              <a:t>share in Hyderabad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8229600" cy="2148840"/>
          </a:xfrm>
          <a:prstGeom prst="roundRect">
            <a:avLst>
              <a:gd name="adj" fmla="val 4255"/>
            </a:avLst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</a:rPr>
              <a:t>Key Market Drivers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15468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Hyderabad ranked #3 in India for quick-commerce readiness (Redseer 2023)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48386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Telangana IT corridor (HITEC City, Gachibowli) drives high-income, time-poor consumer 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813048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Warangal, Karimnagar, Nizamabad: ₹900 Cr combined grocery market, &lt;5% online penetration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414223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State government's TS-iPASS: streamlined warehouse licensing, avg. 18-day approvals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4471416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Dual-income households in Hyderabad growing at 12% CAGR — key quick-commerce driver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38404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Player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377440" y="1097280"/>
            <a:ext cx="1645920" cy="38404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0972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Dark Stores (Hyd)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23360" y="1097280"/>
            <a:ext cx="1554480" cy="38404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097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Delivery SLA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7840" y="1097280"/>
            <a:ext cx="1371600" cy="38404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097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SKU Count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49440" y="1097280"/>
            <a:ext cx="1828800" cy="38404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097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Telangana Tier-2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48132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4813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Blinkit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77440" y="148132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14813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14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23360" y="148132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14813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8–12 min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148132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4813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8,000+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49440" y="148132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Absent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1865376"/>
            <a:ext cx="2011680" cy="384048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8653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Swiggy Instamart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0" y="1865376"/>
            <a:ext cx="1645920" cy="384048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18653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11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23360" y="1865376"/>
            <a:ext cx="1554480" cy="384048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186537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10–15 min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77840" y="1865376"/>
            <a:ext cx="1371600" cy="384048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18653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7,500+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1865376"/>
            <a:ext cx="1828800" cy="384048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8653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Warangal only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249424"/>
            <a:ext cx="201168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2494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0011"/>
                </a:solidFill>
              </a:rPr>
              <a:t>Zepto (current)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377440" y="2249424"/>
            <a:ext cx="164592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0" y="22494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90011"/>
                </a:solidFill>
              </a:rPr>
              <a:t>7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023360" y="2249424"/>
            <a:ext cx="155448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22494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90011"/>
                </a:solidFill>
              </a:rPr>
              <a:t>10 min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77840" y="2249424"/>
            <a:ext cx="137160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22494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90011"/>
                </a:solidFill>
              </a:rPr>
              <a:t>5,000+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49440" y="2249424"/>
            <a:ext cx="182880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0" y="22494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90011"/>
                </a:solidFill>
              </a:rPr>
              <a:t>Absent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2633472"/>
            <a:ext cx="2011680" cy="384048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26334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BigBasket BB Now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377440" y="2633472"/>
            <a:ext cx="1645920" cy="384048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77440" y="26334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023360" y="2633472"/>
            <a:ext cx="1554480" cy="384048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0" y="26334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15–20 min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77840" y="2633472"/>
            <a:ext cx="1371600" cy="384048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0" y="2633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12,000+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49440" y="2633472"/>
            <a:ext cx="1828800" cy="384048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0" y="26334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Absent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301752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Dunzo (declining)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377440" y="301752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77440" y="3017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3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023360" y="301752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23360" y="3017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20–30 min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77840" y="301752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77840" y="3017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4,000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949440" y="3017520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49440" y="3017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Absent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040880" y="22494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0011"/>
                </a:solidFill>
              </a:rPr>
              <a:t>← Zepto's current position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65760" y="352044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8E1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3593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56"/>
                </a:solidFill>
              </a:rPr>
              <a:t>Strategic Gap &amp; Opportunity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No player has meaningful Tier-2 Telangana presence — first-mover advantage available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40080" y="42336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Zepto's 10-min SLA matches Blinkit but with lower dark-store count — density expansion needed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40080" y="45354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SKU gap vs. BigBasket: opportunity in FMCG staples + regional Telugu snacks &amp; brands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Segments &amp; City Prioritization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99339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Hyderabad Metro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82496"/>
            <a:ext cx="1810512" cy="274320"/>
          </a:xfrm>
          <a:prstGeom prst="roundRect">
            <a:avLst>
              <a:gd name="adj" fmla="val 16667"/>
            </a:avLst>
          </a:prstGeom>
          <a:solidFill>
            <a:srgbClr val="990011">
              <a:alpha val="20000"/>
            </a:srgbClr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824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0011"/>
                </a:solidFill>
              </a:rPr>
              <a:t>Phase 1 (Now)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2029968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Deepen density: +8 dark stores in HITEC City, Jubilee Hills, Kukatpally, Miyapur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181051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9300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1.05 Cr households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0011"/>
                </a:solidFill>
              </a:rPr>
              <a:t>Target ₹180 Cr GMV by Q4 2025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87168" y="109728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7168" y="1097280"/>
            <a:ext cx="1993392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10972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Warangal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78608" y="1682496"/>
            <a:ext cx="1810512" cy="274320"/>
          </a:xfrm>
          <a:prstGeom prst="roundRect">
            <a:avLst>
              <a:gd name="adj" fmla="val 16667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6824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Phase 2 (Q2 2025)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96896" y="2029968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First Tier-2 city. Near Hyd corridor, strong student + IT population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78608" y="3429000"/>
            <a:ext cx="181051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349300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7.2 L households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78608" y="37490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Target ₹22 Cr GMV by Q2 2026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08576" y="109728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08576" y="1097280"/>
            <a:ext cx="1993392" cy="5029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0972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Karimnagar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0016" y="1682496"/>
            <a:ext cx="1810512" cy="274320"/>
          </a:xfrm>
          <a:prstGeom prst="roundRect">
            <a:avLst>
              <a:gd name="adj" fmla="val 16667"/>
            </a:avLst>
          </a:prstGeom>
          <a:solidFill>
            <a:srgbClr val="1A2456">
              <a:alpha val="20000"/>
            </a:srgbClr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16824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456"/>
                </a:solidFill>
              </a:rPr>
              <a:t>Phase 2 (Q3 2025)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18304" y="2029968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Emerging industrial belt. Pharmacy + staples focus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00016" y="3429000"/>
            <a:ext cx="181051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349300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3.8 L households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00016" y="37490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456"/>
                </a:solidFill>
              </a:rPr>
              <a:t>Target ₹12 Cr GMV by Q3 2026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729984" y="109728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29984" y="1097280"/>
            <a:ext cx="1993392" cy="50292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9984" y="10972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Nizamabad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21424" y="1682496"/>
            <a:ext cx="1810512" cy="274320"/>
          </a:xfrm>
          <a:prstGeom prst="roundRect">
            <a:avLst>
              <a:gd name="adj" fmla="val 16667"/>
            </a:avLst>
          </a:prstGeom>
          <a:solidFill>
            <a:srgbClr val="5C6BC0">
              <a:alpha val="20000"/>
            </a:srgbClr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21424" y="16824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6BC0"/>
                </a:solidFill>
              </a:rPr>
              <a:t>Phase 3 (Q1 2026)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39712" y="2029968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Agricultural hub — opportunity in agri-input + FMCG categories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821424" y="3429000"/>
            <a:ext cx="181051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21424" y="349300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3.1 L households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21424" y="37490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6BC0"/>
                </a:solidFill>
              </a:rPr>
              <a:t>Target ₹9 Cr GMV by Q4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Store Expansion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719072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+8 dark stores in Hyderabad by Q2 2025 (1,800–2,200 sq ft each)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05840" y="197510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Micro-fulfillment in Tier-2: partner with local kirana warehouses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2231136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Target 10-min delivery radius of 2.5 km per store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248716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TS-iPASS licensing: target 18-day approvals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78608"/>
            <a:ext cx="502920" cy="5029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5786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Partnerships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017520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Tie-up with Reliance Fresh &amp; More outlets for overflow inventory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05840" y="3273552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Telugu regional brands: Sri Krishna Sweets, Balaji Wafers, MTR Foods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05840" y="352958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Leverage Telangana Poultry &amp; Dairy Board for fresh supply chain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05840" y="3785616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Last-mile: partner with local gig platforms (Dunzo alumni network)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630168"/>
            <a:ext cx="841248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877056"/>
            <a:ext cx="502920" cy="5029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87705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Hyperlocal Assortment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31596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Regional SKUs: Sunnundalu, Pesarattu mix, Gongura pickle, Pulihora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05840" y="4572000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Festival-driven inventory: Sankranti, Bathukamma, Bonalu specials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05840" y="4828032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Pharmacy tie-up: Apollo Pharmacy for OTC medicines (Hyd focus)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" y="508406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Price anchoring: match Blinkit on top 300 SKUs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Projections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1051560"/>
            <a:ext cx="1737360" cy="402336"/>
          </a:xfrm>
          <a:prstGeom prst="rect">
            <a:avLst/>
          </a:prstGeom>
          <a:solidFill>
            <a:srgbClr val="1A245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23560" y="10515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Metric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60920" y="1051560"/>
            <a:ext cx="1005840" cy="402336"/>
          </a:xfrm>
          <a:prstGeom prst="rect">
            <a:avLst/>
          </a:prstGeom>
          <a:solidFill>
            <a:srgbClr val="1A245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60920" y="10515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Current (Hyd)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366760" y="1051560"/>
            <a:ext cx="1005840" cy="402336"/>
          </a:xfrm>
          <a:prstGeom prst="rect">
            <a:avLst/>
          </a:prstGeom>
          <a:solidFill>
            <a:srgbClr val="1A245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66760" y="10515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Target (12M)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23560" y="1453896"/>
            <a:ext cx="1737360" cy="402336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3560" y="14538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Avg. Order Value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360920" y="1453896"/>
            <a:ext cx="1005840" cy="402336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60920" y="14538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₹485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366760" y="1453896"/>
            <a:ext cx="1005840" cy="402336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14538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₹520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23560" y="1856232"/>
            <a:ext cx="1737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23560" y="18562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Take Rate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360920" y="1856232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60920" y="18562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4.2%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366760" y="1856232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66760" y="18562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5.5%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23560" y="2258568"/>
            <a:ext cx="1737360" cy="402336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23560" y="22585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Contribution Margin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360920" y="2258568"/>
            <a:ext cx="1005840" cy="402336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60920" y="225856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90011"/>
                </a:solidFill>
              </a:rPr>
              <a:t>-2.1%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366760" y="2258568"/>
            <a:ext cx="1005840" cy="402336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66760" y="225856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7D32"/>
                </a:solidFill>
              </a:rPr>
              <a:t>+3.8%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623560" y="2660904"/>
            <a:ext cx="1737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23560" y="26609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Orders/Store/Day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360920" y="2660904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360920" y="26609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320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366760" y="2660904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66760" y="26609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480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623560" y="3063240"/>
            <a:ext cx="1737360" cy="402336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23560" y="30632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Payback Period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7360920" y="3063240"/>
            <a:ext cx="1005840" cy="402336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60920" y="30632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28 months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366760" y="3063240"/>
            <a:ext cx="1005840" cy="402336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66760" y="30632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18 months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57200" y="39776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0080" y="40416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Break-even projection: Hyderabad cluster reaches EBITDA positive by Q3 2025 (Month 14 post new dark-store cohort). Telangana total positive by Q2 2026.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Mitigation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286000" cy="347472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51760" y="1097280"/>
            <a:ext cx="822960" cy="347472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0972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Level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5577840" cy="347472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0972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Mitigation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444752"/>
            <a:ext cx="822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444752"/>
            <a:ext cx="55778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44475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Competitive Response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97480" y="1600200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600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47872" y="1444752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First-mover advantage in Tier-2; lock in warehouse locations with 3-yr leases before Blinkit moves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2286000" cy="621792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51760" y="2103120"/>
            <a:ext cx="822960" cy="621792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103120"/>
            <a:ext cx="5577840" cy="621792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1031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Supply Chain Complexity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97480" y="2258568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22585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47872" y="210312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Regional DC in Warangal + cold chain partnerships with Hatsun Agro &amp; Heritage Foods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761488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1760" y="2761488"/>
            <a:ext cx="822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761488"/>
            <a:ext cx="55778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76148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Consumer Trust (New Market)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97480" y="2916936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29169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547872" y="2761488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Hyperlocal marketing: Telugu OTT ads, local influencers, 1st-order zero-delivery-fee campaign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419856"/>
            <a:ext cx="2286000" cy="621792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51760" y="3419856"/>
            <a:ext cx="822960" cy="621792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0" y="3419856"/>
            <a:ext cx="5577840" cy="621792"/>
          </a:xfrm>
          <a:prstGeom prst="rect">
            <a:avLst/>
          </a:prstGeom>
          <a:solidFill>
            <a:srgbClr val="F1F1F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41985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Regulatory / Licensing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697480" y="3575304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35753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547872" y="3419856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TS-iPASS single-window clearance; pre-filed FSSAI applications; dedicated compliance team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078224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51760" y="4078224"/>
            <a:ext cx="822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0" y="4078224"/>
            <a:ext cx="55778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07822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Talent &amp; Last-Mile Ops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697480" y="4233672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97480" y="42336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547872" y="4078224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Partner with Hyderabad skill development corps; 15% wage premium vs. market to reduce attrition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90-Day Action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97480" cy="8229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DDD"/>
                </a:solidFill>
              </a:rPr>
              <a:t>Days 1–30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993392"/>
            <a:ext cx="219456" cy="21945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3852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Sign 4 new dark-store leases in Hyd (Miyapur, Kukatpally, LB Nagar, Uppal)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660904"/>
            <a:ext cx="219456" cy="21945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0604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Finalize Warangal site survey &amp; shortlist 2 locations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3328416"/>
            <a:ext cx="219456" cy="21945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73552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Launch Telugu OTT &amp; digital campaign (₹3 Cr budget)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3995928"/>
            <a:ext cx="219456" cy="21945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41064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Onboard 3 regional brand partnerships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10515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051560"/>
            <a:ext cx="269748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0789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DDD"/>
                </a:solidFill>
              </a:rPr>
              <a:t>Days 31–60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0" y="138988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37560" y="1993392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193852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Open 2 new Hyd dark stores; hire + train 60 delivery partners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37560" y="2660904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60604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File TS-iPASS applications for Warangal stores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37560" y="3328416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3273552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Go-live with regional SKU catalogue (500 new SKUs)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37560" y="3995928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941064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Pilot pharmacy tie-up in 3 Hyderabad stores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35040" y="10515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1051560"/>
            <a:ext cx="2697480" cy="82296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10789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DDD"/>
                </a:solidFill>
              </a:rPr>
              <a:t>Days 61–90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35040" y="138988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2200" y="1993392"/>
            <a:ext cx="219456" cy="219456"/>
          </a:xfrm>
          <a:prstGeom prst="ellipse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193852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Open remaining 2 Hyd stores; GMV target ₹85 Cr/month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72200" y="2660904"/>
            <a:ext cx="219456" cy="219456"/>
          </a:xfrm>
          <a:prstGeom prst="ellipse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60604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Warangal store #1 operational by Day 90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72200" y="3328416"/>
            <a:ext cx="219456" cy="219456"/>
          </a:xfrm>
          <a:prstGeom prst="ellipse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273552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Launch Zepto loyalty program for Telugu market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72200" y="3995928"/>
            <a:ext cx="219456" cy="219456"/>
          </a:xfrm>
          <a:prstGeom prst="ellipse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3941064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Review unit economics; go/no-go on Karimnagar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B30010">
              <a:alpha val="40000"/>
            </a:srgbClr>
          </a:solidFill>
          <a:ln w="12700">
            <a:solidFill>
              <a:srgbClr val="B300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029200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78992"/>
            <a:ext cx="274320" cy="2743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0332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Telangana Q-commerce TAM of ₹4,200 Cr by 2026 — largely untapped outside Hyd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274320" cy="2743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733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 competitor has a Tier-2 strategy; Zepto can own this space in 12–18 months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274320" cy="2743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134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Phased expansion: Hyd densification → Warangal → Karimnagar → Nizamabad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274320" cy="2743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95351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₹42 Cr investment yields NPV-positive returns by Month 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39312"/>
            <a:ext cx="274320" cy="2743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5935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Telugu-first assortment + local partnerships = sustainable competitive moat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519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Ask: Approve ₹42 Cr Telangana expansion budget | Authorize 90-day action plan execution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Zepto Market Entry Strategy – Telangana</dc:title>
  <dc:subject>PptxGenJS Presentation</dc:subject>
  <dc:creator>Bharath</dc:creator>
  <cp:lastModifiedBy>Bharath</cp:lastModifiedBy>
  <cp:revision>1</cp:revision>
  <dcterms:created xsi:type="dcterms:W3CDTF">2026-06-25T21:23:19Z</dcterms:created>
  <dcterms:modified xsi:type="dcterms:W3CDTF">2026-06-25T21:23:19Z</dcterms:modified>
</cp:coreProperties>
</file>